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과제 제출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데이터가 늦어도 화면은 사라지지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667512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600" b="1">
                <a:solidFill>
                  <a:srgbClr val="161915"/>
                </a:solidFill>
                <a:latin typeface="Malgun Gothic"/>
              </a:defRPr>
            </a:pPr>
            <a:r>
              <a:t>실시간 정보판 데이터 신선도 배지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48840"/>
            <a:ext cx="6766560" cy="1051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5D6258"/>
                </a:solidFill>
                <a:latin typeface="Malgun Gothic"/>
              </a:defRPr>
            </a:pPr>
            <a:r>
              <a:t>fresh · stale · unavailable</a:t>
            </a:r>
            <a:br/>
            <a:r>
              <a:t>마지막 정상값 유지 + 경과 시간 표시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10789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41648"/>
            <a:ext cx="1014984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결과물  https://realtime-info-board-t05.vercel.app/</a:t>
            </a:r>
            <a:br/>
            <a:r>
              <a:t>소스     https://github.com/stulss/realtime-info-board-t05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GOAL · 한 화면에서 데이터 현재성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92F25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66344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장애 시 기존 데이터까지 사라짐</a:t>
            </a:r>
            <a:br/>
            <a:r>
              <a:t>• 마지막 정상 수신 시각을 알기 어려움</a:t>
            </a:r>
            <a:br/>
            <a:r>
              <a:t>• 색상만으로 상태를 구분하면 접근성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19072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40280"/>
            <a:ext cx="466344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fresh / stale / unavailable 3상태</a:t>
            </a:r>
            <a:br/>
            <a:r>
              <a:t>• 장애 시 마지막 정상값·차트 유지</a:t>
            </a:r>
            <a:br/>
            <a:r>
              <a:t>• 시각·경과 초·텍스트·aria-label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HANDOFF · AI A에서 AI B로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3375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7432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타입·순수 함수</a:t>
            </a:r>
            <a:br/>
            <a:r>
              <a:t>• 공용 1초 클록</a:t>
            </a:r>
            <a:br/>
            <a:r>
              <a:t>• 접근 가능한 배지</a:t>
            </a:r>
            <a:br/>
            <a:r>
              <a:t>• fresh 렌더</a:t>
            </a:r>
            <a:br/>
            <a:r>
              <a:t>• 15분 · 1회 · 2/10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1371600"/>
            <a:ext cx="3794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691640"/>
            <a:ext cx="3200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87114"/>
                </a:solidFill>
                <a:latin typeface="Malgun Gothic"/>
              </a:defRPr>
            </a:pPr>
            <a:r>
              <a:t>7항목 인계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148840"/>
            <a:ext cx="31546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목표·현재 상태</a:t>
            </a:r>
            <a:br/>
            <a:r>
              <a:t>• 실행 명령·통과 검사</a:t>
            </a:r>
            <a:br/>
            <a:r>
              <a:t>• 남은 문제·다음 행동</a:t>
            </a:r>
            <a:br/>
            <a:r>
              <a:t>• 건드리지 말 것</a:t>
            </a:r>
            <a:br/>
            <a:r>
              <a:t>• 인계 커밋 90be0ac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364992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91640"/>
            <a:ext cx="2743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AI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7432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simulate 4분기</a:t>
            </a:r>
            <a:br/>
            <a:r>
              <a:t>• stale/unavailable</a:t>
            </a:r>
            <a:br/>
            <a:r>
              <a:t>• 경계 버그 수정</a:t>
            </a:r>
            <a:br/>
            <a:r>
              <a:t>• E2E 5건</a:t>
            </a:r>
            <a:br/>
            <a:r>
              <a:t>• 14분 · 1회 · 10/10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ARCHITECTURE · 기존 경계를 보존한 최소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?simulate=</a:t>
            </a:r>
            <a:br/>
            <a:r>
              <a:t>4개 장애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기존 fetch와</a:t>
            </a:r>
            <a:br/>
            <a:r>
              <a:t>실패 처리 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6값 status →</a:t>
            </a:r>
            <a:br/>
            <a:r>
              <a:t>3값 dataStatus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07424" y="160020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920240"/>
            <a:ext cx="2057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6024" y="2606040"/>
            <a:ext cx="205740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한 화면 유지</a:t>
            </a:r>
            <a:br/>
            <a:r>
              <a:t>배지만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32120"/>
            <a:ext cx="73152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1">
                <a:solidFill>
                  <a:srgbClr val="5D6258"/>
                </a:solidFill>
                <a:latin typeface="Malgun Gothic"/>
              </a:defRPr>
            </a:pPr>
            <a:r>
              <a:t>외부 API·DB·기존 E2E 기대값 무수정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EVIDENCE · fresh에서 stale로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371600"/>
            <a:ext cx="5532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36192"/>
            <a:ext cx="5166359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28804D"/>
                </a:solidFill>
                <a:latin typeface="Malgun Gothic"/>
              </a:defRPr>
            </a:pPr>
            <a:r>
              <a:t>fresh · 정상 수신 · 경과 0s</a:t>
            </a:r>
          </a:p>
        </p:txBody>
      </p:sp>
      <p:pic>
        <p:nvPicPr>
          <p:cNvPr id="8" name="Picture 7" descr="T05_01_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58" y="1901952"/>
            <a:ext cx="2678107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44768" y="1371600"/>
            <a:ext cx="5532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536192"/>
            <a:ext cx="5166359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timeout · 이전 데이터 유지</a:t>
            </a:r>
          </a:p>
        </p:txBody>
      </p:sp>
      <p:pic>
        <p:nvPicPr>
          <p:cNvPr id="11" name="Picture 10" descr="T05_02_stale_time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669" y="1901952"/>
            <a:ext cx="235431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EVIDENCE · 원인별 stale와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권한 오류 401/403</a:t>
            </a:r>
          </a:p>
        </p:txBody>
      </p:sp>
      <p:pic>
        <p:nvPicPr>
          <p:cNvPr id="8" name="Picture 7" descr="T05_03_stale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22" y="1947672"/>
            <a:ext cx="2270234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42816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87114"/>
                </a:solidFill>
                <a:latin typeface="Malgun Gothic"/>
              </a:defRPr>
            </a:pPr>
            <a:r>
              <a:t>stale · 호출 제한</a:t>
            </a:r>
          </a:p>
        </p:txBody>
      </p:sp>
      <p:pic>
        <p:nvPicPr>
          <p:cNvPr id="11" name="Picture 10" descr="T05_04_stale_rate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783" y="1947672"/>
            <a:ext cx="2527384" cy="3703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74152" y="1417320"/>
            <a:ext cx="3703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581912"/>
            <a:ext cx="33375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B92F25"/>
                </a:solidFill>
                <a:latin typeface="Malgun Gothic"/>
              </a:defRPr>
            </a:pPr>
            <a:r>
              <a:t>unavailable · 정상값 없음</a:t>
            </a:r>
          </a:p>
        </p:txBody>
      </p:sp>
      <p:pic>
        <p:nvPicPr>
          <p:cNvPr id="14" name="Picture 13" descr="T05_05_unavail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581" y="1947672"/>
            <a:ext cx="258246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VERIFICATION · 고정검사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029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품질 게이트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29768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lint PASS</a:t>
            </a:r>
            <a:br/>
            <a:r>
              <a:t>• typecheck PASS</a:t>
            </a:r>
            <a:br/>
            <a:r>
              <a:t>• unit 45/45 PASS</a:t>
            </a:r>
            <a:br/>
            <a:r>
              <a:t>• build PASS</a:t>
            </a:r>
            <a:br/>
            <a:r>
              <a:t>• E2E 14/14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17320"/>
            <a:ext cx="5696712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37360"/>
            <a:ext cx="50292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최종 배포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94560"/>
            <a:ext cx="48920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161915"/>
                </a:solidFill>
                <a:latin typeface="Malgun Gothic"/>
              </a:defRPr>
            </a:pPr>
            <a:r>
              <a:t>• 공개 URL 로그인 없음</a:t>
            </a:r>
            <a:br/>
            <a:r>
              <a:t>• 원격 T05 E2E 5/5 PASS</a:t>
            </a:r>
            <a:br/>
            <a:r>
              <a:t>• fresh → stale → unavailable 육안 확인</a:t>
            </a:r>
            <a:br/>
            <a:r>
              <a:t>• 증거: 2026-08-29T04-21-36Z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COMPARISON · 이름을 가린 AI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918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0175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3375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306324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AI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17320"/>
            <a:ext cx="3749039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600200"/>
            <a:ext cx="34747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AI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48840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148840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304288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fresh 계약·UI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148840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304288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장애 분기·E2E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07208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807208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2962656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15분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807208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962656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14분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65576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사용자 프롬프트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465576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3621024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3465576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621024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23944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279392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실패 회차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4123944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279392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0회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4123944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4279392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2회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782312"/>
            <a:ext cx="32918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37760"/>
            <a:ext cx="30175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61915"/>
                </a:solidFill>
                <a:latin typeface="Malgun Gothic"/>
              </a:defRPr>
            </a:pPr>
            <a:r>
              <a:t>최종 고정검사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4782312"/>
            <a:ext cx="33375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4937760"/>
            <a:ext cx="306324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2/10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2312"/>
            <a:ext cx="3749039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937760"/>
            <a:ext cx="3474720" cy="201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0">
                <a:solidFill>
                  <a:srgbClr val="161915"/>
                </a:solidFill>
                <a:latin typeface="Malgun Gothic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LESSONS · 기록을 믿되 반드시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B92F25"/>
                </a:solidFill>
                <a:latin typeface="Malgun Gothic"/>
              </a:defRPr>
            </a:pPr>
            <a:r>
              <a:t>발견한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663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인계 문서의 파일 누락 오진</a:t>
            </a:r>
            <a:br/>
            <a:r>
              <a:t>• 한글 경로의 Vitest 별칭 인코딩</a:t>
            </a:r>
            <a:br/>
            <a:r>
              <a:t>• 경과 -1s 경계값</a:t>
            </a:r>
            <a:br/>
            <a:r>
              <a:t>• Vercel Other 프리셋의 dist 오류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37360"/>
            <a:ext cx="47548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28804D"/>
                </a:solidFill>
                <a:latin typeface="Malgun Gothic"/>
              </a:defRPr>
            </a:pPr>
            <a:r>
              <a:t>해결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66344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161915"/>
                </a:solidFill>
                <a:latin typeface="Malgun Gothic"/>
              </a:defRPr>
            </a:pPr>
            <a:r>
              <a:t>• 원문보다 저장소 사실을 우선</a:t>
            </a:r>
            <a:br/>
            <a:r>
              <a:t>• fileURLToPath로 실제 경로 사용</a:t>
            </a:r>
            <a:br/>
            <a:r>
              <a:t>• ageSeconds 0 하한 + 회귀 테스트</a:t>
            </a:r>
            <a:br/>
            <a:r>
              <a:t>• Next.js 프리셋·자동 감지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01168"/>
            <a:ext cx="2331720" cy="310896"/>
          </a:xfrm>
          <a:prstGeom prst="roundRect">
            <a:avLst/>
          </a:prstGeom>
          <a:solidFill>
            <a:srgbClr val="C6F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20574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161915"/>
                </a:solidFill>
                <a:latin typeface="Malgun Gothic"/>
              </a:defRPr>
            </a:pPr>
            <a:r>
              <a:t>T05 · PULSEBOARD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06984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500" b="1">
                <a:solidFill>
                  <a:srgbClr val="161915"/>
                </a:solidFill>
                <a:latin typeface="Malgun Gothic"/>
              </a:defRPr>
            </a:pPr>
            <a:r>
              <a:t>FINAL · 제출 주소와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D6258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결과물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161915"/>
                </a:solidFill>
                <a:latin typeface="Malgun Gothic"/>
              </a:defRPr>
            </a:pPr>
            <a:r>
              <a:t>https://realtime-info-board-t05.vercel.app/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974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0">
                <a:solidFill>
                  <a:srgbClr val="161915"/>
                </a:solidFill>
                <a:latin typeface="Malgun Gothic"/>
              </a:defRPr>
            </a:pPr>
            <a:r>
              <a:t>https://github.com/stulss/realtime-info-board-t05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6118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1915"/>
                </a:solidFill>
                <a:latin typeface="Malgun Gothic"/>
              </a:defRPr>
            </a:pPr>
            <a:r>
              <a:t>고정검사 10/10 · unit 45/45 · E2E 14/14 · 원격 5/5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128016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28804D"/>
                </a:solidFill>
                <a:latin typeface="Malgun Gothic"/>
              </a:defRPr>
            </a:pPr>
            <a:r>
              <a:t>다음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526280"/>
            <a:ext cx="84124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600" b="0">
                <a:solidFill>
                  <a:srgbClr val="5D6258"/>
                </a:solidFill>
                <a:latin typeface="Malgun Gothic"/>
              </a:defRPr>
            </a:pPr>
            <a:r>
              <a:t>초기 계약은 기록 중심, 장애·경계는 실행·검증 루프 중심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