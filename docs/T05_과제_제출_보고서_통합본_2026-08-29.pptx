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과제 제출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데이터가 늦어도 화면은 사라지지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6675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600" b="1">
                <a:solidFill>
                  <a:srgbClr val="161915"/>
                </a:solidFill>
                <a:latin typeface="Malgun Gothic"/>
              </a:defRPr>
            </a:pPr>
            <a:r>
              <a:t>실시간 정보판 데이터 신선도 배지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676656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5D6258"/>
                </a:solidFill>
                <a:latin typeface="Malgun Gothic"/>
              </a:defRPr>
            </a:pPr>
            <a:r>
              <a:t>fresh · stale · unavailable</a:t>
            </a:r>
            <a:br/>
            <a:r>
              <a:t>마지막 정상값 유지 + 경과 시간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03320"/>
            <a:ext cx="10789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041648"/>
            <a:ext cx="1014984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결과물  https://realtime-info-board-t05.vercel.app/</a:t>
            </a:r>
            <a:br/>
            <a:r>
              <a:t>소스     https://github.com/stulss/realtime-info-board-t05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01 기획 · 한 화면에서 데이터 현재성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B92F25"/>
                </a:solidFill>
                <a:latin typeface="Malgun Gothic"/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66344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장애 시 기존 데이터까지 사라짐</a:t>
            </a:r>
            <a:br/>
            <a:r>
              <a:t>• 마지막 정상 수신 시각을 알기 어려움</a:t>
            </a:r>
            <a:br/>
            <a:r>
              <a:t>• 색상만으로 상태를 구분하면 접근성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40280"/>
            <a:ext cx="466344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fresh / stale / unavailable 3상태</a:t>
            </a:r>
            <a:br/>
            <a:r>
              <a:t>• 장애 시 마지막 정상값·차트 유지</a:t>
            </a:r>
            <a:br/>
            <a:r>
              <a:t>• 시각·경과 초·텍스트·aria-label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docs/AI_3줄.md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AI 3줄 · 위임, 직접 판단, 불채택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10002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AI에게 맡긴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27632"/>
            <a:ext cx="832104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신선도 배지 · 이전 값 유지 · simulate 분기 · 자동 테스트 · 인계 문서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43200"/>
            <a:ext cx="110002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35808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B87114"/>
                </a:solidFill>
                <a:latin typeface="Malgun Gothic"/>
              </a:defRPr>
            </a:pPr>
            <a:r>
              <a:t>내가 판단한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99232"/>
            <a:ext cx="832104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에러 화면을 분리하지 않고 데이터는 유지한 채 배지만 3상태로 교체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14800"/>
            <a:ext cx="110002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18288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B92F25"/>
                </a:solidFill>
                <a:latin typeface="Malgun Gothic"/>
              </a:defRPr>
            </a:pPr>
            <a:r>
              <a:t>AI 말을 안 들은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70832"/>
            <a:ext cx="83210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파일 누락 진단을 직접 검증해 실제 원인인 비ASCII Vitest 경로 인코딩을 수정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docs/00_과제_요구사항_매핑.md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00 요구사항 매핑 · 고정검사와 루브릭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25780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6634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고정검사 T05-C01~C10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572000" cy="2971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fresh·시각·경과 초</a:t>
            </a:r>
            <a:br/>
            <a:r>
              <a:t>• timeout 이전 데이터 유지</a:t>
            </a:r>
            <a:br/>
            <a:r>
              <a:t>• auth·ratelimit 원인 문구</a:t>
            </a:r>
            <a:br/>
            <a:r>
              <a:t>• empty unavailable</a:t>
            </a:r>
            <a:br/>
            <a:r>
              <a:t>• 텍스트 접근성·E2E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42976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1">
                <a:solidFill>
                  <a:srgbClr val="28804D"/>
                </a:solidFill>
                <a:latin typeface="Malgun Gothic"/>
              </a:defRPr>
            </a:pPr>
            <a:r>
              <a:t>10 / 10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371600"/>
            <a:ext cx="55138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49377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과제 5 루브릭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800600" cy="2971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사전 고정·공통 상한 완료</a:t>
            </a:r>
            <a:br/>
            <a:r>
              <a:t>• AI A 중단·7항목 인계 완료</a:t>
            </a:r>
            <a:br/>
            <a:r>
              <a:t>• AI B 새 대화 이어받기 완료</a:t>
            </a:r>
            <a:br/>
            <a:r>
              <a:t>• 익명 비교·공개 배포 완료</a:t>
            </a:r>
            <a:br/>
            <a:r>
              <a:t>• 원본 미제공 C32~36·C40~49만 대조 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5720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28804D"/>
                </a:solidFill>
                <a:latin typeface="Malgun Gothic"/>
              </a:defRPr>
            </a:pPr>
            <a:r>
              <a:t>C21 공개·GitHub PUBLIC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docs/02_인수인계_문서.md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02 인수인계 · AI A에서 AI B로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375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743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AI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7432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타입·순수 함수</a:t>
            </a:r>
            <a:br/>
            <a:r>
              <a:t>• 공용 1초 클록</a:t>
            </a:r>
            <a:br/>
            <a:r>
              <a:t>• 접근 가능한 배지</a:t>
            </a:r>
            <a:br/>
            <a:r>
              <a:t>• fresh 렌더</a:t>
            </a:r>
            <a:br/>
            <a:r>
              <a:t>• 15분 · 1회 · 2/10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7952" y="1371600"/>
            <a:ext cx="37947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691640"/>
            <a:ext cx="3200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B87114"/>
                </a:solidFill>
                <a:latin typeface="Malgun Gothic"/>
              </a:defRPr>
            </a:pPr>
            <a:r>
              <a:t>7항목 인계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148840"/>
            <a:ext cx="315468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목표·현재 상태</a:t>
            </a:r>
            <a:br/>
            <a:r>
              <a:t>• 실행 명령·통과 검사</a:t>
            </a:r>
            <a:br/>
            <a:r>
              <a:t>• 남은 문제·다음 행동</a:t>
            </a:r>
            <a:br/>
            <a:r>
              <a:t>• 건드리지 말 것</a:t>
            </a:r>
            <a:br/>
            <a:r>
              <a:t>• 인계 커밋 90be0ac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36499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91640"/>
            <a:ext cx="2743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AI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7432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simulate 4분기</a:t>
            </a:r>
            <a:br/>
            <a:r>
              <a:t>• stale/unavailable</a:t>
            </a:r>
            <a:br/>
            <a:r>
              <a:t>• 경계 버그 수정</a:t>
            </a:r>
            <a:br/>
            <a:r>
              <a:t>• E2E 5건</a:t>
            </a:r>
            <a:br/>
            <a:r>
              <a:t>• 14분 · 1회 · 10/10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docs/04_작업_기록.md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04 작업 기록 · 설계에서 공개까지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600200"/>
            <a:ext cx="2084831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1915"/>
                </a:solidFill>
                <a:latin typeface="Malgun Gothic"/>
              </a:defRPr>
            </a:pPr>
            <a:r>
              <a:t>fa41377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169164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161915"/>
                </a:solidFill>
                <a:latin typeface="Malgun Gothic"/>
              </a:defRPr>
            </a:pPr>
            <a:r>
              <a:t>검사·상한·문서 동결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00200"/>
            <a:ext cx="2084831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901952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AI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14600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1915"/>
                </a:solidFill>
                <a:latin typeface="Malgun Gothic"/>
              </a:defRPr>
            </a:pPr>
            <a:r>
              <a:t>90be0ac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46120"/>
            <a:ext cx="169164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161915"/>
                </a:solidFill>
                <a:latin typeface="Malgun Gothic"/>
              </a:defRPr>
            </a:pPr>
            <a:r>
              <a:t>15분 · 1회 · 2/10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600200"/>
            <a:ext cx="2084831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901952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AI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514600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1915"/>
                </a:solidFill>
                <a:latin typeface="Malgun Gothic"/>
              </a:defRPr>
            </a:pPr>
            <a:r>
              <a:t>dd87a46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46120"/>
            <a:ext cx="169164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161915"/>
                </a:solidFill>
                <a:latin typeface="Malgun Gothic"/>
              </a:defRPr>
            </a:pPr>
            <a:r>
              <a:t>14분 · 1회 · 10/10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1600200"/>
            <a:ext cx="2084831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1901952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514600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1915"/>
                </a:solidFill>
                <a:latin typeface="Malgun Gothic"/>
              </a:defRPr>
            </a:pPr>
            <a:r>
              <a:t>326c7f5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3246120"/>
            <a:ext cx="169164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161915"/>
                </a:solidFill>
                <a:latin typeface="Malgun Gothic"/>
              </a:defRPr>
            </a:pPr>
            <a:r>
              <a:t>main 머지 · PUBLIC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47504" y="1600200"/>
            <a:ext cx="2084831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0384" y="1901952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마감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2514600"/>
            <a:ext cx="16916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1915"/>
                </a:solidFill>
                <a:latin typeface="Malgun Gothic"/>
              </a:defRPr>
            </a:pPr>
            <a:r>
              <a:t>33c76c8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3246120"/>
            <a:ext cx="169164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161915"/>
                </a:solidFill>
                <a:latin typeface="Malgun Gothic"/>
              </a:defRPr>
            </a:pPr>
            <a:r>
              <a:t>배포 · 증거 · PPT/PDF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925312"/>
            <a:ext cx="98755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1">
                <a:solidFill>
                  <a:srgbClr val="5D6258"/>
                </a:solidFill>
                <a:latin typeface="Malgun Gothic"/>
              </a:defRPr>
            </a:pPr>
            <a:r>
              <a:t>AI B 실패 회차 2회 → 경계값 수정 후 전체 E2E 14/14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01 기획 · 기존 경계를 보존한 최소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?simulate=</a:t>
            </a:r>
            <a:br/>
            <a:r>
              <a:t>4개 장애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기존 fetch와</a:t>
            </a:r>
            <a:br/>
            <a:r>
              <a:t>실패 처리 재사용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6값 status →</a:t>
            </a:r>
            <a:br/>
            <a:r>
              <a:t>3값 dataStatus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한 화면 유지</a:t>
            </a:r>
            <a:br/>
            <a:r>
              <a:t>배지만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532120"/>
            <a:ext cx="73152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5D6258"/>
                </a:solidFill>
                <a:latin typeface="Malgun Gothic"/>
              </a:defRPr>
            </a:pPr>
            <a:r>
              <a:t>외부 API·DB·기존 E2E 기대값 무수정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EVIDENCE · fresh에서 stale로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371600"/>
            <a:ext cx="5532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36192"/>
            <a:ext cx="5166359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28804D"/>
                </a:solidFill>
                <a:latin typeface="Malgun Gothic"/>
              </a:defRPr>
            </a:pPr>
            <a:r>
              <a:t>fresh · 정상 수신 · 경과 0s</a:t>
            </a:r>
          </a:p>
        </p:txBody>
      </p:sp>
      <p:pic>
        <p:nvPicPr>
          <p:cNvPr id="8" name="Picture 7" descr="T05_01_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58" y="1901952"/>
            <a:ext cx="2678107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44768" y="1371600"/>
            <a:ext cx="5532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536192"/>
            <a:ext cx="5166359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87114"/>
                </a:solidFill>
                <a:latin typeface="Malgun Gothic"/>
              </a:defRPr>
            </a:pPr>
            <a:r>
              <a:t>stale · timeout · 이전 데이터 유지</a:t>
            </a:r>
          </a:p>
        </p:txBody>
      </p:sp>
      <p:pic>
        <p:nvPicPr>
          <p:cNvPr id="11" name="Picture 10" descr="T05_02_stale_time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669" y="1901952"/>
            <a:ext cx="2354317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EVIDENCE · 원인별 stale와 unavailable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33375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87114"/>
                </a:solidFill>
                <a:latin typeface="Malgun Gothic"/>
              </a:defRPr>
            </a:pPr>
            <a:r>
              <a:t>stale · 권한 오류 401/403</a:t>
            </a:r>
          </a:p>
        </p:txBody>
      </p:sp>
      <p:pic>
        <p:nvPicPr>
          <p:cNvPr id="8" name="Picture 7" descr="T05_03_stale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22" y="1947672"/>
            <a:ext cx="2270234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42816" y="141732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581912"/>
            <a:ext cx="33375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87114"/>
                </a:solidFill>
                <a:latin typeface="Malgun Gothic"/>
              </a:defRPr>
            </a:pPr>
            <a:r>
              <a:t>stale · 호출 제한</a:t>
            </a:r>
          </a:p>
        </p:txBody>
      </p:sp>
      <p:pic>
        <p:nvPicPr>
          <p:cNvPr id="11" name="Picture 10" descr="T05_04_stale_rateli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83" y="1947672"/>
            <a:ext cx="2527384" cy="3703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74152" y="141732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81912"/>
            <a:ext cx="33375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92F25"/>
                </a:solidFill>
                <a:latin typeface="Malgun Gothic"/>
              </a:defRPr>
            </a:pPr>
            <a:r>
              <a:t>unavailable · 정상값 없음</a:t>
            </a:r>
          </a:p>
        </p:txBody>
      </p:sp>
      <p:pic>
        <p:nvPicPr>
          <p:cNvPr id="14" name="Picture 13" descr="T05_05_unavail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581" y="1947672"/>
            <a:ext cx="258246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docs/검증안내서.md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검증안내서 · 30초,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01 ·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9718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fresh · 수신 시각 · 경과 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5D6258"/>
                </a:solidFill>
                <a:latin typeface="Malgun Gothic"/>
              </a:defRPr>
            </a:pPr>
            <a:r>
              <a:t>C01·C02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02 · timeout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9718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이전 데이터 유지 · stale · 경과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80060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5D6258"/>
                </a:solidFill>
                <a:latin typeface="Malgun Gothic"/>
              </a:defRPr>
            </a:pPr>
            <a:r>
              <a:t>C03~C05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2880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03 · 나머지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514600"/>
            <a:ext cx="29718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auth · ratelimit · empty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00600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5D6258"/>
                </a:solidFill>
                <a:latin typeface="Malgun Gothic"/>
              </a:defRPr>
            </a:pPr>
            <a:r>
              <a:t>C06~C08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943600"/>
            <a:ext cx="95097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1">
                <a:solidFill>
                  <a:srgbClr val="5D6258"/>
                </a:solidFill>
                <a:latin typeface="Malgun Gothic"/>
              </a:defRPr>
            </a:pPr>
            <a:r>
              <a:t>색상뿐 아니라 텍스트·aria-label로 구분(C09) · E2E 전체 통과(C10)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VERIFICATION · 고정검사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품질 게이트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29768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lint PASS</a:t>
            </a:r>
            <a:br/>
            <a:r>
              <a:t>• typecheck PASS</a:t>
            </a:r>
            <a:br/>
            <a:r>
              <a:t>• unit 45/45 PASS</a:t>
            </a:r>
            <a:br/>
            <a:r>
              <a:t>• build PASS</a:t>
            </a:r>
            <a:br/>
            <a:r>
              <a:t>• E2E 14/14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417320"/>
            <a:ext cx="569671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737360"/>
            <a:ext cx="5029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최종 배포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194560"/>
            <a:ext cx="48920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공개 URL 로그인 없음</a:t>
            </a:r>
            <a:br/>
            <a:r>
              <a:t>• 원격 T05 E2E 5/5 PASS</a:t>
            </a:r>
            <a:br/>
            <a:r>
              <a:t>• fresh → stale → unavailable 육안 확인</a:t>
            </a:r>
            <a:br/>
            <a:r>
              <a:t>• 증거: 2026-08-29T04-21-36Z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docs/05_배포.md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05 배포 · GitHub에서 Vercel 공개까지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4924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선택과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617720" cy="3017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Vercel Hobby · Next.js 단일 스택</a:t>
            </a:r>
            <a:br/>
            <a:r>
              <a:t>• Production Branch = main</a:t>
            </a:r>
            <a:br/>
            <a:r>
              <a:t>• Framework Preset = Next.js</a:t>
            </a:r>
            <a:br/>
            <a:r>
              <a:t>• Build/Output = Auto-detect</a:t>
            </a:r>
            <a:br/>
            <a:r>
              <a:t>• 서버 키는 NEXT_PUBLIC_ 금지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39496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9164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최종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48840"/>
            <a:ext cx="4617720" cy="3017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GitHub 저장소 PUBLIC</a:t>
            </a:r>
            <a:br/>
            <a:r>
              <a:t>• 무로그인 공개 URL HTTP 200</a:t>
            </a:r>
            <a:br/>
            <a:r>
              <a:t>• 원격 T05 E2E 5/5</a:t>
            </a:r>
            <a:br/>
            <a:r>
              <a:t>• fresh→stale→unavailable 육안 확인</a:t>
            </a:r>
            <a:br/>
            <a:r>
              <a:t>• 증거 2026-08-29T04-21-36Z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COMPARISON · 이름을 가린 AI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918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017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337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306324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AI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17320"/>
            <a:ext cx="3749039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600200"/>
            <a:ext cx="34747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AI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48840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범위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148840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304288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fresh 계약·UI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148840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304288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장애 분기·E2E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07208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62656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807208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962656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15분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807208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962656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14분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65576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21024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사용자 프롬프트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465576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621024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465576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621024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23944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79392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실패 회차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123944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279392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0회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4123944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279392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2회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782312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최종 고정검사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4782312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4937760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2/10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782312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937760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LESSONS · 기록을 믿되 반드시 검증한다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B92F25"/>
                </a:solidFill>
                <a:latin typeface="Malgun Gothic"/>
              </a:defRPr>
            </a:pPr>
            <a:r>
              <a:t>발견한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6634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인계 문서의 파일 누락 오진</a:t>
            </a:r>
            <a:br/>
            <a:r>
              <a:t>• 한글 경로의 Vitest 별칭 인코딩</a:t>
            </a:r>
            <a:br/>
            <a:r>
              <a:t>• 경과 -1s 경계값</a:t>
            </a:r>
            <a:br/>
            <a:r>
              <a:t>• Vercel Other 프리셋의 dist 오류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3736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해결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46634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원문보다 저장소 사실을 우선</a:t>
            </a:r>
            <a:br/>
            <a:r>
              <a:t>• fileURLToPath로 실제 경로 사용</a:t>
            </a:r>
            <a:br/>
            <a:r>
              <a:t>• ageSeconds 0 하한 + 회귀 테스트</a:t>
            </a:r>
            <a:br/>
            <a:r>
              <a:t>• Next.js 프리셋·자동 감지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FINAL · 제출 주소와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결과물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830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161915"/>
                </a:solidFill>
                <a:latin typeface="Malgun Gothic"/>
              </a:defRPr>
            </a:pPr>
            <a:r>
              <a:t>https://realtime-info-board-t05.vercel.app/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6974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161915"/>
                </a:solidFill>
                <a:latin typeface="Malgun Gothic"/>
              </a:defRPr>
            </a:pPr>
            <a:r>
              <a:t>https://github.com/stulss/realtime-info-board-t05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6118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고정검사 10/10 · unit 45/45 · E2E 14/14 · 원격 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다음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5262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5D6258"/>
                </a:solidFill>
                <a:latin typeface="Malgun Gothic"/>
              </a:defRPr>
            </a:pPr>
            <a:r>
              <a:t>초기 계약은 기록 중심, 장애·경계는 실행·검증 루프 중심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