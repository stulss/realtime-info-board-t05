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과제 제출 보고서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데이터가 늦어도 화면은 사라지지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EEEE7"/>
                </a:solidFill>
                <a:latin typeface="Malgun Gothic"/>
              </a:defRPr>
            </a:pPr>
            <a:r>
              <a:t>실시간 정보판 데이터 신선도 배지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B2B5A6"/>
                </a:solidFill>
                <a:latin typeface="Malgun Gothic"/>
              </a:defRPr>
            </a:pPr>
            <a:r>
              <a:t>fresh · stale · unavailable</a:t>
            </a:r>
            <a:br/>
            <a:r>
              <a:t>마지막 정상값 유지 + 경과 시간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57600"/>
            <a:ext cx="7406640" cy="14173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0507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EEEE7"/>
                </a:solidFill>
                <a:latin typeface="Malgun Gothic"/>
              </a:defRPr>
            </a:pPr>
            <a:r>
              <a:t>결과물  realtime-info-board-t05.vercel.app</a:t>
            </a:r>
            <a:br/>
            <a:r>
              <a:t>소스     github.com/stulss/realtime-info-board-t05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353312"/>
            <a:ext cx="2743200" cy="4343400"/>
          </a:xfrm>
          <a:prstGeom prst="roundRect">
            <a:avLst/>
          </a:prstGeom>
          <a:solidFill>
            <a:srgbClr val="2C3028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828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C6FF22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011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2B5A6"/>
                </a:solidFill>
                <a:latin typeface="Malgun Gothic"/>
              </a:defRPr>
            </a:pPr>
            <a:r>
              <a:t>고정검사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880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EEEE7"/>
                </a:solidFill>
                <a:latin typeface="Malgun Gothic"/>
              </a:defRPr>
            </a:pPr>
            <a:r>
              <a:t>5개</a:t>
            </a:r>
            <a:br/>
            <a:r>
              <a:t>원격 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251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EEEE7"/>
                </a:solidFill>
                <a:latin typeface="Malgun Gothic"/>
              </a:defRPr>
            </a:pPr>
            <a:r>
              <a:t>32장</a:t>
            </a:r>
            <a:br/>
            <a:r>
              <a:t>기록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OVERVIEW ·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장애가 나면 현재 데이터까지 사라질 수 있음</a:t>
            </a:r>
            <a:br/>
            <a:r>
              <a:t>• 마지막 정상 수신 시각을 알기 어려움</a:t>
            </a:r>
            <a:br/>
            <a:r>
              <a:t>• 색상만으로 상태를 구분하면 접근성 저하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fresh / stale / unavailable 3상태</a:t>
            </a:r>
            <a:br/>
            <a:r>
              <a:t>• 장애 시 마지막 정상값·차트 유지</a:t>
            </a:r>
            <a:br/>
            <a:r>
              <a:t>• 수신 시각·경과 초·텍스트·aria-label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DOCUMENT · SOURCE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SOURCE · 과제 진행 중 기록만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기획·요구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00 과제 요구사항 매핑</a:t>
            </a:r>
            <a:br/>
            <a:r>
              <a:t>• 01 기획</a:t>
            </a:r>
            <a:br/>
            <a:r>
              <a:t>• 02 인수인계 문서</a:t>
            </a:r>
            <a:br/>
            <a:r>
              <a:t>• T05 고정검사·상한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검증·결과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04 작업 기록</a:t>
            </a:r>
            <a:br/>
            <a:r>
              <a:t>• 05 배포</a:t>
            </a:r>
            <a:br/>
            <a:r>
              <a:t>• 검증안내서</a:t>
            </a:r>
            <a:br/>
            <a:r>
              <a:t>• AI 3줄·최종 보고서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GOAL · 기능 하나를 정확히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화면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우측 상단 신선도 배지</a:t>
            </a:r>
            <a:br/>
            <a:r>
              <a:t>• 마지막 정상 수신 시각</a:t>
            </a:r>
            <a:br/>
            <a:r>
              <a:t>• 매초 증가하는 ageSeconds</a:t>
            </a:r>
            <a:br/>
            <a:r>
              <a:t>• 색상 외 텍스트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장애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정상 데이터를 실패 응답으로 덮어쓰지 않음</a:t>
            </a:r>
            <a:br/>
            <a:r>
              <a:t>• 마지막 값과 차트 유지</a:t>
            </a:r>
            <a:br/>
            <a:r>
              <a:t>• 원인별 stale 문구</a:t>
            </a:r>
            <a:br/>
            <a:r>
              <a:t>• 정상값 없을 때 unavailable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TECH STACK · 기존 구성을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애플리케이션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Next.js App Router</a:t>
            </a:r>
            <a:br/>
            <a:r>
              <a:t>• React · TypeScript strict</a:t>
            </a:r>
            <a:br/>
            <a:r>
              <a:t>• Tailwind CSS 4</a:t>
            </a:r>
            <a:br/>
            <a:r>
              <a:t>• TanStack Query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검증·배포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Vitest · Testing Library</a:t>
            </a:r>
            <a:br/>
            <a:r>
              <a:t>• Playwright</a:t>
            </a:r>
            <a:br/>
            <a:r>
              <a:t>• Vercel</a:t>
            </a:r>
            <a:br/>
            <a:r>
              <a:t>• 새 의존성 추가 없음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DESIGN · 학생이 정한 세 가지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사용자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에러 뷰와 성공 뷰를 분리하지 않음</a:t>
            </a:r>
            <a:br/>
            <a:r>
              <a:t>• 단일 화면에서 배지만 교체</a:t>
            </a:r>
            <a:br/>
            <a:r>
              <a:t>• Toast·모달 대신 정직한 배지와 문구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수정 경계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클라이언트 렌더링 단에서 대응</a:t>
            </a:r>
            <a:br/>
            <a:r>
              <a:t>• 외부 API·DB 계층 무수정</a:t>
            </a:r>
            <a:br/>
            <a:r>
              <a:t>• 기존 실패 처리 함수 재사용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CONTRACT · 6값 내부 상태를 3값으로 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6FF22"/>
                </a:solidFill>
                <a:latin typeface="Malgun Gothic"/>
              </a:defRPr>
            </a:pPr>
            <a:r>
              <a:t>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  <a:latin typeface="Malgun Gothic"/>
              </a:defRPr>
            </a:pPr>
            <a:r>
              <a:t>최신 정상 응답</a:t>
            </a:r>
            <a:br/>
            <a:r>
              <a:t>status =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6177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ageSeconds는</a:t>
            </a:r>
            <a:br/>
            <a:r>
              <a:t>클라이언트가 매초 계산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B532"/>
                </a:solidFill>
                <a:latin typeface="Malgun Gothic"/>
              </a:defRPr>
            </a:pPr>
            <a:r>
              <a:t>stale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  <a:latin typeface="Malgun Gothic"/>
              </a:defRPr>
            </a:pPr>
            <a:r>
              <a:t>마지막 정상값 존재</a:t>
            </a:r>
            <a:br/>
            <a:r>
              <a:t>최신 갱신 실패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6177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ageSeconds는</a:t>
            </a:r>
            <a:br/>
            <a:r>
              <a:t>클라이언트가 매초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695C"/>
                </a:solidFill>
                <a:latin typeface="Malgun Gothic"/>
              </a:defRPr>
            </a:pPr>
            <a:r>
              <a:t>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60604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EEEE7"/>
                </a:solidFill>
                <a:latin typeface="Malgun Gothic"/>
              </a:defRPr>
            </a:pPr>
            <a:r>
              <a:t>정상값이 한 번도 없음</a:t>
            </a:r>
            <a:br/>
            <a:r>
              <a:t>value =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461772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ageSeconds는</a:t>
            </a:r>
            <a:br/>
            <a:r>
              <a:t>클라이언트가 매초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ARCHITECTURE · URL에서 배지까지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2057400" cy="397763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simulate</a:t>
            </a:r>
            <a:br/>
            <a:r>
              <a:t>4개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1600200"/>
            <a:ext cx="2057400" cy="397763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65176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정상 fixture</a:t>
            </a:r>
            <a:br/>
            <a:r>
              <a:t>+ 실패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1600200"/>
            <a:ext cx="2057400" cy="397763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65176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이전 값 유지</a:t>
            </a:r>
            <a:br/>
            <a:r>
              <a:t>lastError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9208" y="1600200"/>
            <a:ext cx="2057400" cy="397763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65176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dataStatus</a:t>
            </a:r>
            <a:br/>
            <a:r>
              <a:t>ageSeconds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01784" y="1600200"/>
            <a:ext cx="2057400" cy="3977639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84663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3" y="2651760"/>
            <a:ext cx="1691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기존 화면</a:t>
            </a:r>
            <a:br/>
            <a:r>
              <a:t>배지만 교체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B5A6"/>
                </a:solidFill>
                <a:latin typeface="Malgun Gothic"/>
              </a:defRPr>
            </a:pPr>
            <a:r>
              <a:t>timeout · auth · ratelimit은 이전 값 유지 / empty는 정상값 없이 unavailable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IMPLEMENTATION · 변경 파일과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계약·상태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widget.ts — DataStatus</a:t>
            </a:r>
            <a:br/>
            <a:r>
              <a:t>• freshness.ts — 상태 투영</a:t>
            </a:r>
            <a:br/>
            <a:r>
              <a:t>• clock.ts — 안정 1초 클록</a:t>
            </a:r>
            <a:br/>
            <a:r>
              <a:t>• use-simulate.ts — URL 장애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화면·검증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freshness-badge.tsx — 텍스트+아이콘</a:t>
            </a:r>
            <a:br/>
            <a:r>
              <a:t>• dashboard.tsx — topbar·simulate</a:t>
            </a:r>
            <a:br/>
            <a:r>
              <a:t>• t05-freshness.spec.ts — UI 검증</a:t>
            </a:r>
            <a:br/>
            <a:r>
              <a:t>• vitest.config.ts — 실제 경로 별칭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docs/01_기획.md 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DO NOT TOUCH · 보호한 기존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1009376" cy="46177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10378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  <a:latin typeface="Malgun Gothic"/>
              </a:defRPr>
            </a:pPr>
            <a:r>
              <a:t>• 외부 API fetch·정규화: src/app/api/widgets/**</a:t>
            </a:r>
            <a:br/>
            <a:r>
              <a:t>• 기존 장애 재현 API: 재사용만</a:t>
            </a:r>
            <a:br/>
            <a:r>
              <a:t>• 기존 dashboard E2E 수정 없음</a:t>
            </a:r>
            <a:br/>
            <a:r>
              <a:t>• 고정검사·상한 문서 수정 없음</a:t>
            </a:r>
            <a:br/>
            <a:r>
              <a:t>• 기존 단위 테스트 assertion·기대값 변경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docs/00_과제_요구사항_매핑.md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FIXED CHECKS · T05-C01~C10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정상·timeout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C01 fresh</a:t>
            </a:r>
            <a:br/>
            <a:r>
              <a:t>• C02 수신 시각·경과 초</a:t>
            </a:r>
            <a:br/>
            <a:r>
              <a:t>• C03 이전 데이터 유지</a:t>
            </a:r>
            <a:br/>
            <a:r>
              <a:t>• C04 stale</a:t>
            </a:r>
            <a:br/>
            <a:r>
              <a:t>• C05 시각 동결·경과 증가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원인·접근성·자동화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C06 auth 401/403</a:t>
            </a:r>
            <a:br/>
            <a:r>
              <a:t>• C07 ratelimit 대기</a:t>
            </a:r>
            <a:br/>
            <a:r>
              <a:t>• C08 unavailable</a:t>
            </a:r>
            <a:br/>
            <a:r>
              <a:t>• C09 텍스트 상태</a:t>
            </a:r>
            <a:br/>
            <a:r>
              <a:t>• C10 E2E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C01·C02 · 정상 수신은 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1_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220" y="1444752"/>
            <a:ext cx="318822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fresh · 마지막 수신 시각 · 경과 0s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C03 · timeout에도 이전 데이터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2_stale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52" y="1444752"/>
            <a:ext cx="28027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마지막 정상값과 차트는 유지하고 배지만 stale로 전환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STALE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C04·C05 · stale 시각은 멈추고 경과는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2_stale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52" y="1444752"/>
            <a:ext cx="28027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마지막 정상 수신 시각 동결 · ageSeconds는 계속 증가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C06 · 권한 오류를 원인까지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3_stale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52" y="1444752"/>
            <a:ext cx="2802758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stale · 권한 오류(401/403)로 갱신 중지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RATE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C07 · 호출 제한은 다음 갱신 대기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4_stale_rate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218" y="1444752"/>
            <a:ext cx="312022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stale · 호출 제한 — 다음 갱신 대기 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C08 · 정상값이 없으면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5_un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220" y="1444752"/>
            <a:ext cx="318822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unavailable · 데이터를 가져오지 못했습니다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EVIDENCE ·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C09 · 색상 외 텍스트로 상태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298448"/>
            <a:ext cx="11109960" cy="49834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05_01_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220" y="1444752"/>
            <a:ext cx="3188222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089904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2B5A6"/>
                </a:solidFill>
                <a:latin typeface="Malgun Gothic"/>
              </a:defRPr>
            </a:pPr>
            <a:r>
              <a:t>가시 텍스트와 aria-label로 fresh/stale/unavailable을 전달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docs/04_작업_기록.md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C10 · 전체 자동검사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품질 게이트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lint PASS</a:t>
            </a:r>
            <a:br/>
            <a:r>
              <a:t>• typecheck PASS</a:t>
            </a:r>
            <a:br/>
            <a:r>
              <a:t>• unit 45/45 PASS</a:t>
            </a:r>
            <a:br/>
            <a:r>
              <a:t>• build PASS</a:t>
            </a:r>
            <a:br/>
            <a:r>
              <a:t>• 전체 E2E 14/14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최종 배포 재검증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공개 URL HTTP 200</a:t>
            </a:r>
            <a:br/>
            <a:r>
              <a:t>• T05 원격 E2E 5/5</a:t>
            </a:r>
            <a:br/>
            <a:r>
              <a:t>• 5개 상태 육안 확인</a:t>
            </a:r>
            <a:br/>
            <a:r>
              <a:t>• UTC 실행별 스크린샷 보존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docs/04_작업_기록.md ·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CLAUDE CODE · 설계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먼저 정한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관찰 가능한 고정검사 10개</a:t>
            </a:r>
            <a:br/>
            <a:r>
              <a:t>• 15분·사용자 프롬프트 10회 상한</a:t>
            </a:r>
            <a:br/>
            <a:r>
              <a:t>• 3값 dataStatus 계약</a:t>
            </a:r>
            <a:br/>
            <a:r>
              <a:t>• 수정 금지 경계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작업 분담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Codex는 정상 상태까지</a:t>
            </a:r>
            <a:br/>
            <a:r>
              <a:t>• 7항목 문서에서 멈춤</a:t>
            </a:r>
            <a:br/>
            <a:r>
              <a:t>• Claude Code는 장애 분기·E2E</a:t>
            </a:r>
            <a:br/>
            <a:r>
              <a:t>• 대화 전문 없이 이어받기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docs/02·04 · Primary Implementer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OPENAI CODEX · 1차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구현한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DataStatus와 순수 투영 함수</a:t>
            </a:r>
            <a:br/>
            <a:r>
              <a:t>• 공용 1초 클록</a:t>
            </a:r>
            <a:br/>
            <a:r>
              <a:t>• 접근 가능한 FreshnessBadge</a:t>
            </a:r>
            <a:br/>
            <a:r>
              <a:t>• dashboard topbar fresh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종료 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정상 경로 화면 증거</a:t>
            </a:r>
            <a:br/>
            <a:r>
              <a:t>• 관련 테스트·lint·typecheck·build</a:t>
            </a:r>
            <a:br/>
            <a:r>
              <a:t>• 15분 · 사용자 프롬프트 1회</a:t>
            </a:r>
            <a:br/>
            <a:r>
              <a:t>• 장애 분기 전 인계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docs/02_인수인계_문서.md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HANDOFF · 일곱 칸으로 멈추고 넘기기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756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목표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50876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0756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현재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756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실행 명령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50876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0756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통과 검사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245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남은 문제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365760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886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2245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다음 행동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57600"/>
            <a:ext cx="2514600" cy="16916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886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FF22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2245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EEEE7"/>
                </a:solidFill>
                <a:latin typeface="Malgun Gothic"/>
              </a:defRPr>
            </a:pPr>
            <a:r>
              <a:t>건드리지 말 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docs/04 · Secondary Implementer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CLAUDE CODE · 인계 후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구현한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simulate 4개 URL 분기</a:t>
            </a:r>
            <a:br/>
            <a:r>
              <a:t>• 이전 정상값 유지</a:t>
            </a:r>
            <a:br/>
            <a:r>
              <a:t>• stale/unavailable 원인 매핑</a:t>
            </a:r>
            <a:br/>
            <a:r>
              <a:t>• T05 E2E 5개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검증한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고정검사 10/10</a:t>
            </a:r>
            <a:br/>
            <a:r>
              <a:t>• 전체 E2E 14/14</a:t>
            </a:r>
            <a:br/>
            <a:r>
              <a:t>• 14분 · 사용자 프롬프트 1회</a:t>
            </a:r>
            <a:br/>
            <a:r>
              <a:t>• 원격 상태 증거 5장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docs/02·04 · 정정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CORRECTION 1 · 파일 누락이 아니었다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처음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fixture와 http 파일이 물리적으로 누락</a:t>
            </a:r>
            <a:br/>
            <a:r>
              <a:t>• 기존 테스트 import 실패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직접 확인한 실제 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파일은 저장소에 존재</a:t>
            </a:r>
            <a:br/>
            <a:r>
              <a:t>• 한글 경로가 URL 퍼센트 인코딩</a:t>
            </a:r>
            <a:br/>
            <a:r>
              <a:t>• fileURLToPath로 실제 경로 사용</a:t>
            </a:r>
            <a:br/>
            <a:r>
              <a:t>• 단위 테스트 29/31 → 45/45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docs/02·04 · 정정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CORRECTION 2 · 화면 경계값과 누락 요구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경과 초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fresh 배지에 숫자 ageSeconds 누락</a:t>
            </a:r>
            <a:br/>
            <a:r>
              <a:t>• 경과 {n}s 문구 추가</a:t>
            </a:r>
            <a:br/>
            <a:r>
              <a:t>• T05-C02 충족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음수 경계값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클라이언트 시계가 서버보다 뒤면 -1s</a:t>
            </a:r>
            <a:br/>
            <a:r>
              <a:t>• ageSeconds 0 하한</a:t>
            </a:r>
            <a:br/>
            <a:r>
              <a:t>• 회귀 단위 테스트 추가</a:t>
            </a:r>
            <a:br/>
            <a:r>
              <a:t>• 전체 E2E 통과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docs/04_작업_기록.md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WORK LOG · 실제 작업 내용으로 읽는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72768"/>
            <a:ext cx="2057400" cy="40690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Claude Code ·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78608"/>
            <a:ext cx="1691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상태 규칙 3종</a:t>
            </a:r>
            <a:br/>
            <a:r>
              <a:t>· C01~C10 검사</a:t>
            </a:r>
            <a:br/>
            <a:r>
              <a:t>· 데이터 계약</a:t>
            </a:r>
            <a:br/>
            <a:r>
              <a:t>· 변경 금지 범위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1572768"/>
            <a:ext cx="2057400" cy="40690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9019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OpenAI 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578608"/>
            <a:ext cx="1691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타입·상태 계산</a:t>
            </a:r>
            <a:br/>
            <a:r>
              <a:t>· 주입형 시계</a:t>
            </a:r>
            <a:br/>
            <a:r>
              <a:t>· 접근성 배지</a:t>
            </a:r>
            <a:br/>
            <a:r>
              <a:t>· fresh 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1572768"/>
            <a:ext cx="2057400" cy="40690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19019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인수인계 문서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578608"/>
            <a:ext cx="1691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수정·생성 파일</a:t>
            </a:r>
            <a:br/>
            <a:r>
              <a:t>· 테스트 결과</a:t>
            </a:r>
            <a:br/>
            <a:r>
              <a:t>· 남은 작업</a:t>
            </a:r>
            <a:br/>
            <a:r>
              <a:t>· 금지 경계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9208" y="1572768"/>
            <a:ext cx="2057400" cy="40690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19019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Claude Code · 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578608"/>
            <a:ext cx="1691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simulate 장애 4종</a:t>
            </a:r>
            <a:br/>
            <a:r>
              <a:t>· stale/unavailable</a:t>
            </a:r>
            <a:br/>
            <a:r>
              <a:t>· 경계값 결함 수정</a:t>
            </a:r>
            <a:br/>
            <a:r>
              <a:t>· E2E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01784" y="1572768"/>
            <a:ext cx="2057400" cy="40690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84663" y="190195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배포 · 최종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4663" y="2578608"/>
            <a:ext cx="1691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feature→main 통합</a:t>
            </a:r>
            <a:br/>
            <a:r>
              <a:t>· Vercel 공개</a:t>
            </a:r>
            <a:br/>
            <a:r>
              <a:t>· 5개 URL 육안 확인</a:t>
            </a:r>
            <a:br/>
            <a:r>
              <a:t>· 제출 문서 갱신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897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2B5A6"/>
                </a:solidFill>
                <a:latin typeface="Malgun Gothic"/>
              </a:defRPr>
            </a:pPr>
            <a:r>
              <a:t>코드 번호가 아니라 각 단계의 결정·구현·검증 내용으로 재현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docs/03·04 · 작업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COMPARISON · 실제 역할명으로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3273552" cy="621792"/>
          </a:xfrm>
          <a:prstGeom prst="roundRect">
            <a:avLst/>
          </a:prstGeom>
          <a:solidFill>
            <a:srgbClr val="2C3028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1353312"/>
            <a:ext cx="3310128" cy="621792"/>
          </a:xfrm>
          <a:prstGeom prst="roundRect">
            <a:avLst/>
          </a:prstGeom>
          <a:solidFill>
            <a:srgbClr val="2C3028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572768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OpenAI Codex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53312"/>
            <a:ext cx="3959352" cy="621792"/>
          </a:xfrm>
          <a:prstGeom prst="roundRect">
            <a:avLst/>
          </a:prstGeom>
          <a:solidFill>
            <a:srgbClr val="2C3028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72768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Claude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21408"/>
            <a:ext cx="32735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95144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역할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2" y="2121408"/>
            <a:ext cx="3310128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2295144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1차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21408"/>
            <a:ext cx="39593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95144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설계 · 2차 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07208"/>
            <a:ext cx="32735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80944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구현 범위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807208"/>
            <a:ext cx="3310128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2980944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정상 계약·배지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807208"/>
            <a:ext cx="39593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2980944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장애 분기·E2E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493008"/>
            <a:ext cx="32735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66744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작업 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96512" y="3493008"/>
            <a:ext cx="3310128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3672" y="3666744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15분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3493008"/>
            <a:ext cx="39593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3666744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14분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78808"/>
            <a:ext cx="32735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52544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사용자 프롬프트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6512" y="4178808"/>
            <a:ext cx="3310128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3672" y="4352544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178808"/>
            <a:ext cx="39593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352544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864608"/>
            <a:ext cx="32735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38344"/>
            <a:ext cx="2999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EEEE7"/>
                </a:solidFill>
                <a:latin typeface="Malgun Gothic"/>
              </a:defRPr>
            </a:pPr>
            <a:r>
              <a:t>최종 고정검사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96512" y="4864608"/>
            <a:ext cx="3310128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33672" y="5038344"/>
            <a:ext cx="3035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정상 범위 2/10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864608"/>
            <a:ext cx="3959352" cy="566928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5038344"/>
            <a:ext cx="3685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EEEE7"/>
                </a:solidFill>
                <a:latin typeface="Malgun Gothic"/>
              </a:defRPr>
            </a:pPr>
            <a:r>
              <a:t>전체 10/10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docs/AI_3줄.md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AI 3줄 · 위임, 직접 판단, 불채택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1009376" cy="46177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10378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AI에게 맡긴 일 — 신선도 배지, 이전 값 유지, simulate 분기, 자동 테스트와 인계 문서</a:t>
            </a:r>
            <a:br/>
            <a:r>
              <a:t>• 직접 판단한 일 — 에러 화면을 분리하지 않고 데이터 유지·배지만 3상태로 교체</a:t>
            </a:r>
            <a:br/>
            <a:r>
              <a:t>• AI 말을 안 들은 일 — 파일 누락 진단을 직접 검증해 비ASCII 경로 인코딩을 실제 원인으로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docs/검증안내서.md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VERIFICATION GUIDE · 30초,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  <a:latin typeface="Malgun Gothic"/>
              </a:defRPr>
            </a:pPr>
            <a:r>
              <a:t>01 ·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60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EEE7"/>
                </a:solidFill>
                <a:latin typeface="Malgun Gothic"/>
              </a:defRPr>
            </a:pPr>
            <a:r>
              <a:t>fresh · 수신 시각 · 경과 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663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텍스트 상태와</a:t>
            </a:r>
            <a:br/>
            <a:r>
              <a:t>안내 문구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  <a:latin typeface="Malgun Gothic"/>
              </a:defRPr>
            </a:pPr>
            <a:r>
              <a:t>02 · timeout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60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EEE7"/>
                </a:solidFill>
                <a:latin typeface="Malgun Gothic"/>
              </a:defRPr>
            </a:pPr>
            <a:r>
              <a:t>이전 데이터 유지 · stale · 경과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663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텍스트 상태와</a:t>
            </a:r>
            <a:br/>
            <a:r>
              <a:t>안내 문구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08760"/>
            <a:ext cx="3456432" cy="416052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6FF22"/>
                </a:solidFill>
                <a:latin typeface="Malgun Gothic"/>
              </a:defRPr>
            </a:pPr>
            <a:r>
              <a:t>03 · 나머지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5603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EEEE7"/>
                </a:solidFill>
                <a:latin typeface="Malgun Gothic"/>
              </a:defRPr>
            </a:pPr>
            <a:r>
              <a:t>auth · ratelimit · empty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466344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B2B5A6"/>
                </a:solidFill>
                <a:latin typeface="Malgun Gothic"/>
              </a:defRPr>
            </a:pPr>
            <a:r>
              <a:t>텍스트 상태와</a:t>
            </a:r>
            <a:br/>
            <a:r>
              <a:t>안내 문구 확인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docs/05_배포.md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DEPLOYMENT · GitHub에서 Vercel 공개까지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선택·설정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Vercel Hobby · Next.js</a:t>
            </a:r>
            <a:br/>
            <a:r>
              <a:t>• Production Branch main</a:t>
            </a:r>
            <a:br/>
            <a:r>
              <a:t>• Framework Preset Next.js</a:t>
            </a:r>
            <a:br/>
            <a:r>
              <a:t>• Build·Output Auto-detect</a:t>
            </a:r>
            <a:br/>
            <a:r>
              <a:t>• 서버 키는 NEXT_PUBLIC_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최종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GitHub PUBLIC</a:t>
            </a:r>
            <a:br/>
            <a:r>
              <a:t>• 무로그인 공개 URL HTTP 200</a:t>
            </a:r>
            <a:br/>
            <a:r>
              <a:t>• 원격 T05 E2E 5/5</a:t>
            </a:r>
            <a:br/>
            <a:r>
              <a:t>• 상태 5장 육안 확인</a:t>
            </a:r>
            <a:br/>
            <a:r>
              <a:t>• UTC 폴더에 증거 누적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docs/00_과제_요구사항_매핑.md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REQUIREMENTS · 완료와 남은 학생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0488" y="1417320"/>
            <a:ext cx="5413248" cy="452628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관찰형 고정검사 10/10</a:t>
            </a:r>
            <a:br/>
            <a:r>
              <a:t>• 공개 배포·GitHub PUBLIC</a:t>
            </a:r>
            <a:br/>
            <a:r>
              <a:t>• 시간·프롬프트·실패 회차 기록</a:t>
            </a:r>
            <a:br/>
            <a:r>
              <a:t>• 인계·검증안내·AI 3줄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642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추정하지 않고 남긴 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48840"/>
            <a:ext cx="48463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EEEE7"/>
                </a:solidFill>
                <a:latin typeface="Malgun Gothic"/>
              </a:defRPr>
            </a:pPr>
            <a:r>
              <a:t>• 과제 원본 미제공 C32~C36</a:t>
            </a:r>
            <a:br/>
            <a:r>
              <a:t>• 과제 원본 미제공 C40~C49</a:t>
            </a:r>
            <a:br/>
            <a:r>
              <a:t>• C37 개인정보 학생 점검</a:t>
            </a:r>
            <a:br/>
            <a:r>
              <a:t>• C38 비밀값 학생 점검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2148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FINAL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0080"/>
            <a:ext cx="10881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EEEE7"/>
                </a:solidFill>
                <a:latin typeface="Malgun Gothic"/>
              </a:defRPr>
            </a:pPr>
            <a:r>
              <a:t>FINAL · 제출 주소와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55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B2B5A6"/>
                </a:solidFill>
                <a:latin typeface="Malgun Gothic"/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434840"/>
          </a:xfrm>
          <a:prstGeom prst="roundRect">
            <a:avLst/>
          </a:prstGeom>
          <a:solidFill>
            <a:srgbClr val="161915"/>
          </a:solidFill>
          <a:ln>
            <a:solidFill>
              <a:srgbClr val="4B4E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결과물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  <a:latin typeface="Malgun Gothic"/>
              </a:defRPr>
            </a:pPr>
            <a:r>
              <a:t>https://realtime-info-board-t05.vercel.app/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EEEE7"/>
                </a:solidFill>
                <a:latin typeface="Malgun Gothic"/>
              </a:defRPr>
            </a:pPr>
            <a:r>
              <a:t>https://github.com/stulss/realtime-info-board-t05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490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703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EEEE7"/>
                </a:solidFill>
                <a:latin typeface="Malgun Gothic"/>
              </a:defRPr>
            </a:pPr>
            <a:r>
              <a:t>고정검사 10/10 · unit 45/45 · E2E 14/14 · 원격 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09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6FF22"/>
                </a:solidFill>
                <a:latin typeface="Malgun Gothic"/>
              </a:defRPr>
            </a:pPr>
            <a:r>
              <a:t>원고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EEEE7"/>
                </a:solidFill>
                <a:latin typeface="Malgun Gothic"/>
              </a:defRPr>
            </a:pPr>
            <a:r>
              <a:t>docs/T05_제출자료_원고_v3_2026-08-29.md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